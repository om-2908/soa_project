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72870"/>
            <a:ext cx="8806180" cy="1712595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SOA Project Review-2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BATCH - 5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7640" y="4845685"/>
            <a:ext cx="3734435" cy="1472565"/>
          </a:xfrm>
        </p:spPr>
        <p:txBody>
          <a:bodyPr>
            <a:normAutofit/>
          </a:bodyPr>
          <a:lstStyle/>
          <a:p>
            <a:r>
              <a:rPr lang="en-I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 the Guidance of</a:t>
            </a:r>
            <a:endParaRPr lang="en-IN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b="1" dirty="0" err="1">
                <a:solidFill>
                  <a:schemeClr val="dk1"/>
                </a:solidFill>
                <a:latin typeface="Times New Roman" panose="02020603050405020304"/>
                <a:ea typeface="Cambria" panose="02040503050406030204"/>
                <a:cs typeface="Times New Roman" panose="02020603050405020304"/>
                <a:sym typeface="Cambria" panose="02040503050406030204"/>
              </a:rPr>
              <a:t>Dr.</a:t>
            </a:r>
            <a:r>
              <a:rPr lang="en-US" sz="1400" b="1" dirty="0" err="1">
                <a:solidFill>
                  <a:schemeClr val="dk1"/>
                </a:solidFill>
                <a:latin typeface="Times New Roman" panose="02020603050405020304"/>
                <a:ea typeface="Cambria" panose="02040503050406030204"/>
                <a:cs typeface="Times New Roman" panose="02020603050405020304"/>
                <a:sym typeface="+mn-ea"/>
              </a:rPr>
              <a:t>NAVYATHA</a:t>
            </a:r>
            <a:r>
              <a:rPr lang="en-US" sz="1400" b="1" dirty="0">
                <a:solidFill>
                  <a:schemeClr val="dk1"/>
                </a:solidFill>
                <a:latin typeface="Times New Roman" panose="02020603050405020304"/>
                <a:ea typeface="Cambria" panose="02040503050406030204"/>
                <a:cs typeface="Times New Roman" panose="02020603050405020304"/>
                <a:sym typeface="+mn-ea"/>
              </a:rPr>
              <a:t> RANI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/>
                <a:ea typeface="Cambria" panose="02040503050406030204"/>
                <a:cs typeface="Times New Roman" panose="02020603050405020304"/>
                <a:sym typeface="Cambria" panose="02040503050406030204"/>
              </a:rPr>
              <a:t>, </a:t>
            </a:r>
            <a:endParaRPr lang="en-US" sz="1400" b="1">
              <a:solidFill>
                <a:schemeClr val="dk1"/>
              </a:solidFill>
              <a:latin typeface="Times New Roman" panose="02020603050405020304"/>
              <a:ea typeface="Cambria" panose="02040503050406030204"/>
              <a:cs typeface="Times New Roman" panose="02020603050405020304"/>
              <a:sym typeface="Cambria" panose="02040503050406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Department of </a:t>
            </a:r>
            <a:r>
              <a:rPr 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Computer Science and Engineering, 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  <a:sym typeface="Cambria" panose="02040503050406030204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SzPts val="810"/>
              <a:buNone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  <a:sym typeface="Cambria" panose="02040503050406030204"/>
              </a:rPr>
              <a:t>KLH CSE Bowrampet Campus</a:t>
            </a:r>
            <a:endParaRPr lang="en-US" sz="1400"/>
          </a:p>
        </p:txBody>
      </p:sp>
      <p:sp>
        <p:nvSpPr>
          <p:cNvPr id="4" name="Rectangle: Rounded Corners 3"/>
          <p:cNvSpPr/>
          <p:nvPr/>
        </p:nvSpPr>
        <p:spPr>
          <a:xfrm>
            <a:off x="561340" y="22951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900">
                <a:solidFill>
                  <a:schemeClr val="bg1"/>
                </a:solidFill>
                <a:ea typeface="+mn-lt"/>
                <a:cs typeface="+mn-lt"/>
                <a:sym typeface="+mn-ea"/>
              </a:rPr>
              <a:t>ONLINE QUIZ SYSTEM</a:t>
            </a:r>
            <a:endParaRPr lang="en-IN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84315" y="4636770"/>
          <a:ext cx="5081905" cy="1744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1905"/>
              </a:tblGrid>
              <a:tr h="174498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Team Members: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1.OM PANDEY  2420030791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2.SRUJAN          2420030082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3.DHANUSH      2420030788</a:t>
                      </a:r>
                      <a:b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</a:b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4.MUNUDEEP   2420090018</a:t>
                      </a:r>
                      <a:endParaRPr lang="en-IN" sz="1200" b="0" i="0" u="none" strike="noStrike" noProof="0">
                        <a:solidFill>
                          <a:srgbClr val="C000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dirty="0">
                <a:sym typeface="+mn-ea"/>
              </a:rPr>
              <a:t>Problem Statement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b="1">
                <a:sym typeface="+mn-ea"/>
              </a:rPr>
              <a:t>PROBLEM STATEMENT</a:t>
            </a:r>
            <a:endParaRPr lang="en-US" b="1"/>
          </a:p>
          <a:p>
            <a:pPr>
              <a:buChar char="•"/>
            </a:pPr>
            <a:r>
              <a:rPr lang="en-US" altLang="en-GB">
                <a:sym typeface="+mn-ea"/>
              </a:rPr>
              <a:t>Traditional quiz systems rely on manual question paper preparation, distribution, evaluation, and result generation, making the overall process time-consuming and prone to errors. Managing users, questions, quizzes, and results through separate manual processes is also difficult and inefficient. Therefore, there is a need for a centralized and automated online platform that can conduct quizzes, automatically evaluate student answers, and generate results quickly. To address these limitations, the proposed Online Quiz System uses a microservices-oriented architecture to improve scalability, maintainability, and reliability.</a:t>
            </a:r>
            <a:endParaRPr lang="en-US" altLang="en-GB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dirty="0">
                <a:sym typeface="+mn-ea"/>
              </a:rPr>
              <a:t>Objectives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b="1">
                <a:sym typeface="+mn-ea"/>
              </a:rPr>
              <a:t>OBJECTIVES</a:t>
            </a:r>
            <a:endParaRPr lang="en-US" b="1"/>
          </a:p>
          <a:p>
            <a:pPr>
              <a:buChar char="•"/>
            </a:pPr>
            <a:r>
              <a:rPr lang="en-US" altLang="en-GB">
                <a:sym typeface="+mn-ea"/>
              </a:rPr>
              <a:t>To develop a user-friendly web-based Online Quiz System** that enables secure student participation and allows administrators/instructors to manage quizzes, users, questions, and results.</a:t>
            </a:r>
            <a:endParaRPr lang="en-US" altLang="en-GB"/>
          </a:p>
          <a:p>
            <a:pPr>
              <a:buChar char="•"/>
            </a:pPr>
            <a:r>
              <a:rPr lang="en-US" altLang="en-GB">
                <a:sym typeface="+mn-ea"/>
              </a:rPr>
              <a:t>*To provide an effective quiz platform** with multiple-choice questions, correct answers, marks, and time limits.</a:t>
            </a:r>
            <a:endParaRPr lang="en-US" altLang="en-GB"/>
          </a:p>
          <a:p>
            <a:pPr>
              <a:buChar char="•"/>
            </a:pPr>
            <a:r>
              <a:rPr lang="en-US" altLang="en-GB">
                <a:sym typeface="+mn-ea"/>
              </a:rPr>
              <a:t>To automatically evaluate submitted answers** and quickly generate and display quiz scores and results.</a:t>
            </a:r>
            <a:endParaRPr lang="en-US" altLang="en-GB"/>
          </a:p>
          <a:p>
            <a:pPr>
              <a:buChar char="•"/>
            </a:pPr>
            <a:r>
              <a:rPr lang="en-US" altLang="en-GB">
                <a:sym typeface="+mn-ea"/>
              </a:rPr>
              <a:t>To implement a microservices-oriented architecture** to improve the system’s scalability, flexibility, and maintainability.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 sz="3890" b="1">
                <a:sym typeface="+mn-ea"/>
              </a:rPr>
              <a:t>Online Quiz System</a:t>
            </a:r>
            <a:br>
              <a:rPr lang="en-US" altLang="en-GB" sz="3890" b="1">
                <a:sym typeface="+mn-ea"/>
              </a:rPr>
            </a:br>
            <a:br>
              <a:rPr lang="en-US" altLang="en-GB" sz="3890" b="1">
                <a:sym typeface="+mn-ea"/>
              </a:rPr>
            </a:br>
            <a:r>
              <a:rPr lang="en-US" altLang="en-GB" sz="3890" b="1">
                <a:sym typeface="+mn-ea"/>
              </a:rPr>
              <a:t>PROJECT DESIGN</a:t>
            </a:r>
            <a:r>
              <a:rPr lang="en-IN" altLang="en-US" sz="3890" b="1">
                <a:sym typeface="+mn-ea"/>
              </a:rPr>
              <a:t> :-</a:t>
            </a:r>
            <a:endParaRPr lang="en-GB" altLang="en-US" sz="389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GB">
                <a:sym typeface="+mn-ea"/>
              </a:rPr>
              <a:t>The system is designed as a web-based, microservices-oriented application that automates the complete online quiz process.</a:t>
            </a:r>
            <a:endParaRPr lang="en-US" altLang="en-GB"/>
          </a:p>
          <a:p>
            <a:r>
              <a:rPr lang="en-US" altLang="en-GB">
                <a:sym typeface="+mn-ea"/>
              </a:rPr>
              <a:t>Main design components:</a:t>
            </a:r>
            <a:endParaRPr lang="en-US" altLang="en-GB"/>
          </a:p>
          <a:p>
            <a:r>
              <a:rPr lang="en-US" altLang="en-GB">
                <a:sym typeface="+mn-ea"/>
              </a:rPr>
              <a:t>User Interface — Students/Admins interact with the system.</a:t>
            </a:r>
            <a:endParaRPr lang="en-US" altLang="en-GB"/>
          </a:p>
          <a:p>
            <a:r>
              <a:rPr lang="en-US" altLang="en-GB">
                <a:sym typeface="+mn-ea"/>
              </a:rPr>
              <a:t>Authentication Service — Handles user login and authentication.</a:t>
            </a:r>
            <a:endParaRPr lang="en-US" altLang="en-GB"/>
          </a:p>
          <a:p>
            <a:r>
              <a:rPr lang="en-US" altLang="en-GB">
                <a:sym typeface="+mn-ea"/>
              </a:rPr>
              <a:t>Quiz Service — Manages quiz creation and quiz details.</a:t>
            </a:r>
            <a:endParaRPr lang="en-US" altLang="en-GB"/>
          </a:p>
          <a:p>
            <a:r>
              <a:rPr lang="en-US" altLang="en-GB">
                <a:sym typeface="+mn-ea"/>
              </a:rPr>
              <a:t>Question Service — Manages quiz questions and answers.</a:t>
            </a:r>
            <a:endParaRPr lang="en-US" altLang="en-GB"/>
          </a:p>
          <a:p>
            <a:r>
              <a:rPr lang="en-US" altLang="en-GB">
                <a:sym typeface="+mn-ea"/>
              </a:rPr>
              <a:t>Evaluation Service — Evaluates submitted answers.</a:t>
            </a:r>
            <a:endParaRPr lang="en-US" altLang="en-GB"/>
          </a:p>
          <a:p>
            <a:r>
              <a:rPr lang="en-US" altLang="en-GB">
                <a:sym typeface="+mn-ea"/>
              </a:rPr>
              <a:t>Result Service — Generates and manages quiz results.</a:t>
            </a:r>
            <a:endParaRPr lang="en-US" altLang="en-GB"/>
          </a:p>
          <a:p>
            <a:r>
              <a:rPr lang="en-US" altLang="en-GB">
                <a:sym typeface="+mn-ea"/>
              </a:rPr>
              <a:t>Database — Stores users, quizzes, questions, answers and results.</a:t>
            </a:r>
            <a:endParaRPr lang="en-US" altLang="en-GB"/>
          </a:p>
          <a:p>
            <a:r>
              <a:rPr lang="en-US" altLang="en-GB">
                <a:sym typeface="+mn-ea"/>
              </a:rPr>
              <a:t>REST APIs — Enable communication between application components.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>
                <a:sym typeface="+mn-ea"/>
              </a:rPr>
              <a:t>System Architecture</a:t>
            </a:r>
            <a:r>
              <a:rPr lang="en-IN" altLang="en-US">
                <a:sym typeface="+mn-ea"/>
              </a:rPr>
              <a:t> :-</a:t>
            </a:r>
            <a:endParaRPr lang="en-GB" altLang="en-US"/>
          </a:p>
        </p:txBody>
      </p:sp>
      <p:pic>
        <p:nvPicPr>
          <p:cNvPr id="4" name="Content Placeholder 3" descr="ac14eeca-6b8d-4f9a-bfe4-4f7f1082de7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2760" y="1253490"/>
            <a:ext cx="10793095" cy="5344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ym typeface="+mn-ea"/>
              </a:rPr>
              <a:t>Major Components</a:t>
            </a:r>
            <a:endParaRPr lang="en-GB" altLang="en-US" b="1"/>
          </a:p>
        </p:txBody>
      </p:sp>
      <p:pic>
        <p:nvPicPr>
          <p:cNvPr id="4" name="Content Placeholder 3" descr="af7cb266-12ba-463e-860f-72225e65c3b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6225" y="1246505"/>
            <a:ext cx="11725275" cy="5528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20"/>
          </a:xfrm>
        </p:spPr>
        <p:txBody>
          <a:bodyPr/>
          <a:p>
            <a:r>
              <a:rPr lang="en-US" altLang="en-GB" b="1">
                <a:sym typeface="+mn-ea"/>
              </a:rPr>
              <a:t>System Workflow</a:t>
            </a:r>
            <a:r>
              <a:rPr lang="en-IN" altLang="en-US" b="1">
                <a:sym typeface="+mn-ea"/>
              </a:rPr>
              <a:t> :-</a:t>
            </a:r>
            <a:endParaRPr lang="en-GB" altLang="en-US" b="1"/>
          </a:p>
        </p:txBody>
      </p:sp>
      <p:pic>
        <p:nvPicPr>
          <p:cNvPr id="4" name="Content Placeholder 3" descr="c0b77a68-0250-499f-ac61-8ce17d4f8e3c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100" y="1160145"/>
            <a:ext cx="11955780" cy="5585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0590"/>
          </a:xfrm>
        </p:spPr>
        <p:txBody>
          <a:bodyPr/>
          <a:p>
            <a:pPr algn="ctr"/>
            <a:r>
              <a:rPr lang="en-US" altLang="en-GB" b="1">
                <a:sym typeface="+mn-ea"/>
              </a:rPr>
              <a:t>Database Design </a:t>
            </a:r>
            <a:r>
              <a:rPr lang="en-IN" altLang="en-US" b="1">
                <a:sym typeface="+mn-ea"/>
              </a:rPr>
              <a:t>:-</a:t>
            </a:r>
            <a:endParaRPr lang="en-GB" altLang="en-US" b="1"/>
          </a:p>
        </p:txBody>
      </p:sp>
      <p:pic>
        <p:nvPicPr>
          <p:cNvPr id="4" name="Content Placeholder 3" descr="d08306f2-83d9-4a6e-9668-543cf745374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5590" y="1275715"/>
            <a:ext cx="11917045" cy="4901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7585"/>
          </a:xfrm>
        </p:spPr>
        <p:txBody>
          <a:bodyPr/>
          <a:p>
            <a:pPr algn="ctr"/>
            <a:r>
              <a:rPr lang="en-US" altLang="en-GB" b="1">
                <a:sym typeface="+mn-ea"/>
              </a:rPr>
              <a:t>API / Communication Desig</a:t>
            </a:r>
            <a:r>
              <a:rPr lang="en-IN" altLang="en-US" b="1">
                <a:sym typeface="+mn-ea"/>
              </a:rPr>
              <a:t>n:-</a:t>
            </a:r>
            <a:endParaRPr lang="en-GB" altLang="en-US" b="1"/>
          </a:p>
        </p:txBody>
      </p:sp>
      <p:pic>
        <p:nvPicPr>
          <p:cNvPr id="4" name="Content Placeholder 3" descr="6847dc2e-3ee5-4f4d-9eb0-4a5ed93fcd6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920" y="1179195"/>
            <a:ext cx="11436350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680"/>
          </a:xfrm>
        </p:spPr>
        <p:txBody>
          <a:bodyPr>
            <a:normAutofit fontScale="90000"/>
          </a:bodyPr>
          <a:p>
            <a:pPr algn="ctr"/>
            <a:r>
              <a:rPr lang="en-US" altLang="en-GB" b="1">
                <a:sym typeface="+mn-ea"/>
              </a:rPr>
              <a:t>METHODOLOGY ADOPTED</a:t>
            </a:r>
            <a:r>
              <a:rPr lang="en-IN" altLang="en-US" b="1">
                <a:sym typeface="+mn-ea"/>
              </a:rPr>
              <a:t>:-</a:t>
            </a:r>
            <a:endParaRPr lang="en-IN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8055"/>
            <a:ext cx="10033635" cy="5812790"/>
          </a:xfrm>
          <a:gradFill>
            <a:gsLst>
              <a:gs pos="0">
                <a:schemeClr val="accent1">
                  <a:lumMod val="84000"/>
                  <a:lumOff val="16000"/>
                  <a:alpha val="63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Autofit/>
          </a:bodyPr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Requirement Analysis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System &amp; Architecture Design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Database Design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Microservices Development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Frontend Development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API Integration &amp; Testing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System Testing</a:t>
            </a:r>
            <a:endParaRPr lang="en-US" altLang="en-GB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        </a:t>
            </a:r>
            <a:r>
              <a:rPr lang="en-US" altLang="en-US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↓</a:t>
            </a:r>
            <a:endParaRPr lang="en-US" altLang="en-US" sz="1900"/>
          </a:p>
          <a:p>
            <a:pPr algn="ctr"/>
            <a:r>
              <a:rPr lang="en-US" altLang="en-GB" sz="190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Deployment &amp; Documentation</a:t>
            </a:r>
            <a:endParaRPr lang="en-US" altLang="en-GB" sz="1900"/>
          </a:p>
          <a:p>
            <a:endParaRPr lang="en-US" altLang="en-GB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>
                <a:sym typeface="+mn-ea"/>
              </a:rPr>
              <a:t>. </a:t>
            </a:r>
            <a:r>
              <a:rPr lang="en-US" altLang="en-GB" b="1">
                <a:sym typeface="+mn-ea"/>
              </a:rPr>
              <a:t>MICROSERVICES DEVELOPMENT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32000">
                <a:schemeClr val="accent1">
                  <a:lumMod val="88000"/>
                  <a:lumOff val="12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p>
            <a:r>
              <a:rPr lang="en-US" altLang="en-GB">
                <a:sym typeface="+mn-ea"/>
              </a:rPr>
              <a:t>Service	</a:t>
            </a:r>
            <a:r>
              <a:rPr lang="en-IN" altLang="en-US">
                <a:sym typeface="+mn-ea"/>
              </a:rPr>
              <a:t>                          </a:t>
            </a:r>
            <a:r>
              <a:rPr lang="en-US" altLang="en-GB">
                <a:sym typeface="+mn-ea"/>
              </a:rPr>
              <a:t>Main Function</a:t>
            </a:r>
            <a:endParaRPr lang="en-US" altLang="en-GB"/>
          </a:p>
          <a:p>
            <a:r>
              <a:rPr lang="en-US" altLang="en-GB">
                <a:sym typeface="+mn-ea"/>
              </a:rPr>
              <a:t>Authentication	</a:t>
            </a:r>
            <a:r>
              <a:rPr lang="en-IN" altLang="en-US">
                <a:sym typeface="+mn-ea"/>
              </a:rPr>
              <a:t>             </a:t>
            </a:r>
            <a:r>
              <a:rPr lang="en-US" altLang="en-GB">
                <a:sym typeface="+mn-ea"/>
              </a:rPr>
              <a:t>Login / authentication</a:t>
            </a:r>
            <a:endParaRPr lang="en-US" altLang="en-GB"/>
          </a:p>
          <a:p>
            <a:r>
              <a:rPr lang="en-US" altLang="en-GB">
                <a:sym typeface="+mn-ea"/>
              </a:rPr>
              <a:t>User	</a:t>
            </a:r>
            <a:r>
              <a:rPr lang="en-IN" altLang="en-US">
                <a:sym typeface="+mn-ea"/>
              </a:rPr>
              <a:t>                                   </a:t>
            </a:r>
            <a:r>
              <a:rPr lang="en-US" altLang="en-GB">
                <a:sym typeface="+mn-ea"/>
              </a:rPr>
              <a:t>User management</a:t>
            </a:r>
            <a:endParaRPr lang="en-US" altLang="en-GB"/>
          </a:p>
          <a:p>
            <a:r>
              <a:rPr lang="en-US" altLang="en-GB">
                <a:sym typeface="+mn-ea"/>
              </a:rPr>
              <a:t>Quiz	</a:t>
            </a:r>
            <a:r>
              <a:rPr lang="en-IN" altLang="en-US">
                <a:sym typeface="+mn-ea"/>
              </a:rPr>
              <a:t>                                </a:t>
            </a:r>
            <a:r>
              <a:rPr lang="en-US" altLang="en-GB">
                <a:sym typeface="+mn-ea"/>
              </a:rPr>
              <a:t>Quiz management</a:t>
            </a:r>
            <a:endParaRPr lang="en-US" altLang="en-GB"/>
          </a:p>
          <a:p>
            <a:r>
              <a:rPr lang="en-US" altLang="en-GB">
                <a:sym typeface="+mn-ea"/>
              </a:rPr>
              <a:t>Question	</a:t>
            </a:r>
            <a:r>
              <a:rPr lang="en-IN" altLang="en-US">
                <a:sym typeface="+mn-ea"/>
              </a:rPr>
              <a:t>                      </a:t>
            </a:r>
            <a:r>
              <a:rPr lang="en-US" altLang="en-GB">
                <a:sym typeface="+mn-ea"/>
              </a:rPr>
              <a:t>Question management</a:t>
            </a:r>
            <a:endParaRPr lang="en-US" altLang="en-GB"/>
          </a:p>
          <a:p>
            <a:r>
              <a:rPr lang="en-US" altLang="en-GB">
                <a:sym typeface="+mn-ea"/>
              </a:rPr>
              <a:t>Evaluation	</a:t>
            </a:r>
            <a:r>
              <a:rPr lang="en-IN" altLang="en-US">
                <a:sym typeface="+mn-ea"/>
              </a:rPr>
              <a:t>                        </a:t>
            </a:r>
            <a:r>
              <a:rPr lang="en-US" altLang="en-GB">
                <a:sym typeface="+mn-ea"/>
              </a:rPr>
              <a:t>Answer evaluation</a:t>
            </a:r>
            <a:endParaRPr lang="en-US" altLang="en-GB"/>
          </a:p>
          <a:p>
            <a:r>
              <a:rPr lang="en-US" altLang="en-GB">
                <a:sym typeface="+mn-ea"/>
              </a:rPr>
              <a:t>Result	</a:t>
            </a:r>
            <a:r>
              <a:rPr lang="en-IN" altLang="en-US">
                <a:sym typeface="+mn-ea"/>
              </a:rPr>
              <a:t>                          </a:t>
            </a:r>
            <a:r>
              <a:rPr lang="en-US" altLang="en-GB">
                <a:sym typeface="+mn-ea"/>
              </a:rPr>
              <a:t>Result generation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ym typeface="+mn-ea"/>
              </a:rPr>
              <a:t>Requirement Analysis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87060" cy="4351655"/>
          </a:xfrm>
          <a:gradFill>
            <a:gsLst>
              <a:gs pos="32000">
                <a:schemeClr val="accent1">
                  <a:lumMod val="88000"/>
                  <a:lumOff val="12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 fontScale="90000"/>
          </a:bodyPr>
          <a:p>
            <a:pPr algn="l"/>
            <a:r>
              <a:rPr lang="en-US" altLang="en-GB">
                <a:sym typeface="+mn-ea"/>
              </a:rPr>
              <a:t>Functional Requirements</a:t>
            </a:r>
            <a:r>
              <a:rPr lang="en-IN" altLang="en-US">
                <a:sym typeface="+mn-ea"/>
              </a:rPr>
              <a:t> :-                                                  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User registration and login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Quiz creation and management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Question management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Quiz participation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Answer submission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Automatic evaluation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Score calculation</a:t>
            </a:r>
            <a:endParaRPr lang="en-US" altLang="en-GB"/>
          </a:p>
          <a:p>
            <a:pPr algn="l"/>
            <a:r>
              <a:rPr lang="en-US" altLang="en-GB">
                <a:sym typeface="+mn-ea"/>
              </a:rPr>
              <a:t>Result generation</a:t>
            </a:r>
            <a:endParaRPr lang="en-US" altLang="en-GB"/>
          </a:p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885305" y="2065020"/>
            <a:ext cx="4064000" cy="2306955"/>
          </a:xfrm>
          <a:prstGeom prst="rect">
            <a:avLst/>
          </a:prstGeom>
          <a:gradFill>
            <a:gsLst>
              <a:gs pos="32000">
                <a:schemeClr val="accent1">
                  <a:lumMod val="88000"/>
                  <a:lumOff val="12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rtlCol="0">
            <a:spAutoFit/>
          </a:bodyPr>
          <a:p>
            <a:r>
              <a:rPr lang="en-US" altLang="en-GB" sz="2400">
                <a:sym typeface="+mn-ea"/>
              </a:rPr>
              <a:t>Non-Functional Requirements</a:t>
            </a:r>
            <a:r>
              <a:rPr lang="en-IN" altLang="en-US" sz="2400">
                <a:sym typeface="+mn-ea"/>
              </a:rPr>
              <a:t>:-</a:t>
            </a:r>
            <a:endParaRPr lang="en-US" altLang="en-GB" sz="2400"/>
          </a:p>
          <a:p>
            <a:r>
              <a:rPr lang="en-US" altLang="en-GB" sz="2400">
                <a:sym typeface="+mn-ea"/>
              </a:rPr>
              <a:t>Maintainability</a:t>
            </a:r>
            <a:endParaRPr lang="en-US" altLang="en-GB" sz="2400"/>
          </a:p>
          <a:p>
            <a:r>
              <a:rPr lang="en-US" altLang="en-GB" sz="2400">
                <a:sym typeface="+mn-ea"/>
              </a:rPr>
              <a:t>Scalability</a:t>
            </a:r>
            <a:endParaRPr lang="en-US" altLang="en-GB" sz="2400"/>
          </a:p>
          <a:p>
            <a:r>
              <a:rPr lang="en-US" altLang="en-GB" sz="2400">
                <a:sym typeface="+mn-ea"/>
              </a:rPr>
              <a:t>Reliability</a:t>
            </a:r>
            <a:endParaRPr lang="en-US" altLang="en-GB" sz="2400"/>
          </a:p>
          <a:p>
            <a:r>
              <a:rPr lang="en-US" altLang="en-GB" sz="2400">
                <a:sym typeface="+mn-ea"/>
              </a:rPr>
              <a:t>Security</a:t>
            </a:r>
            <a:endParaRPr lang="en-US" altLang="en-GB" sz="2400"/>
          </a:p>
          <a:p>
            <a:r>
              <a:rPr lang="en-US" altLang="en-GB" sz="2400">
                <a:sym typeface="+mn-ea"/>
              </a:rPr>
              <a:t>User-friendly interface</a:t>
            </a:r>
            <a:endParaRPr lang="en-GB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 fontScale="90000"/>
          </a:bodyPr>
          <a:p>
            <a:r>
              <a:rPr lang="en-US" altLang="en-GB" b="1">
                <a:sym typeface="+mn-ea"/>
              </a:rPr>
              <a:t>COMPLETE DEVELOPMENT METHODOLOGY</a:t>
            </a:r>
            <a:r>
              <a:rPr lang="en-IN" altLang="en-US" b="1">
                <a:sym typeface="+mn-ea"/>
              </a:rPr>
              <a:t>:-</a:t>
            </a:r>
            <a:endParaRPr lang="en-GB" altLang="en-US" b="1"/>
          </a:p>
        </p:txBody>
      </p:sp>
      <p:pic>
        <p:nvPicPr>
          <p:cNvPr id="4" name="Content Placeholder 3" descr="618367980912109615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979170"/>
            <a:ext cx="12192000" cy="5878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TECHNICAL SOUNDNESS OF THE PROJECT</a:t>
            </a:r>
            <a:r>
              <a:rPr lang="en-IN" altLang="en-US" b="1">
                <a:sym typeface="+mn-ea"/>
              </a:rPr>
              <a:t>:-</a:t>
            </a:r>
            <a:endParaRPr lang="en-IN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825625"/>
            <a:ext cx="12192000" cy="5032375"/>
          </a:xfrm>
          <a:gradFill>
            <a:gsLst>
              <a:gs pos="32000">
                <a:schemeClr val="accent1">
                  <a:lumMod val="88000"/>
                  <a:lumOff val="12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b="100000"/>
            </a:path>
            <a:tileRect t="-100000" r="-100000"/>
          </a:gradFill>
        </p:spPr>
        <p:txBody>
          <a:bodyPr/>
          <a:p>
            <a:r>
              <a:rPr lang="en-US" altLang="en-GB">
                <a:sym typeface="+mn-ea"/>
              </a:rPr>
              <a:t>TECHNOLOGY STACK</a:t>
            </a:r>
            <a:r>
              <a:rPr lang="en-IN" altLang="en-US">
                <a:sym typeface="+mn-ea"/>
              </a:rPr>
              <a:t>:-</a:t>
            </a:r>
            <a:endParaRPr lang="en-US" altLang="en-GB"/>
          </a:p>
          <a:p>
            <a:r>
              <a:rPr lang="en-US" altLang="en-GB">
                <a:sym typeface="+mn-ea"/>
              </a:rPr>
              <a:t>Layer	</a:t>
            </a:r>
            <a:r>
              <a:rPr lang="en-IN" altLang="en-US">
                <a:sym typeface="+mn-ea"/>
              </a:rPr>
              <a:t>                                 </a:t>
            </a:r>
            <a:r>
              <a:rPr lang="en-US" altLang="en-GB">
                <a:sym typeface="+mn-ea"/>
              </a:rPr>
              <a:t>Technology</a:t>
            </a:r>
            <a:endParaRPr lang="en-US" altLang="en-GB"/>
          </a:p>
          <a:p>
            <a:r>
              <a:rPr lang="en-US" altLang="en-GB">
                <a:sym typeface="+mn-ea"/>
              </a:rPr>
              <a:t>Frontend	</a:t>
            </a:r>
            <a:r>
              <a:rPr lang="en-IN" altLang="en-US">
                <a:sym typeface="+mn-ea"/>
              </a:rPr>
              <a:t>                       </a:t>
            </a:r>
            <a:r>
              <a:rPr lang="en-US" altLang="en-GB">
                <a:sym typeface="+mn-ea"/>
              </a:rPr>
              <a:t>Web-based User Interface</a:t>
            </a:r>
            <a:endParaRPr lang="en-US" altLang="en-GB"/>
          </a:p>
          <a:p>
            <a:r>
              <a:rPr lang="en-US" altLang="en-GB">
                <a:sym typeface="+mn-ea"/>
              </a:rPr>
              <a:t>Backend	</a:t>
            </a:r>
            <a:r>
              <a:rPr lang="en-IN" altLang="en-US">
                <a:sym typeface="+mn-ea"/>
              </a:rPr>
              <a:t>                              </a:t>
            </a:r>
            <a:r>
              <a:rPr lang="en-US" altLang="en-GB">
                <a:sym typeface="+mn-ea"/>
              </a:rPr>
              <a:t>Microservices</a:t>
            </a:r>
            <a:endParaRPr lang="en-US" altLang="en-GB"/>
          </a:p>
          <a:p>
            <a:r>
              <a:rPr lang="en-US" altLang="en-GB">
                <a:sym typeface="+mn-ea"/>
              </a:rPr>
              <a:t>Communication	</a:t>
            </a:r>
            <a:r>
              <a:rPr lang="en-IN" altLang="en-US">
                <a:sym typeface="+mn-ea"/>
              </a:rPr>
              <a:t>                    </a:t>
            </a:r>
            <a:r>
              <a:rPr lang="en-US" altLang="en-GB">
                <a:sym typeface="+mn-ea"/>
              </a:rPr>
              <a:t>REST APIs</a:t>
            </a:r>
            <a:endParaRPr lang="en-US" altLang="en-GB"/>
          </a:p>
          <a:p>
            <a:r>
              <a:rPr lang="en-US" altLang="en-GB">
                <a:sym typeface="+mn-ea"/>
              </a:rPr>
              <a:t>Database	</a:t>
            </a:r>
            <a:r>
              <a:rPr lang="en-IN" altLang="en-US">
                <a:sym typeface="+mn-ea"/>
              </a:rPr>
              <a:t>                         </a:t>
            </a:r>
            <a:r>
              <a:rPr lang="en-US" altLang="en-GB">
                <a:sym typeface="+mn-ea"/>
              </a:rPr>
              <a:t>Centralized Database</a:t>
            </a:r>
            <a:endParaRPr lang="en-US" altLang="en-GB"/>
          </a:p>
          <a:p>
            <a:r>
              <a:rPr lang="en-US" altLang="en-GB">
                <a:sym typeface="+mn-ea"/>
              </a:rPr>
              <a:t>Development	</a:t>
            </a:r>
            <a:r>
              <a:rPr lang="en-IN" altLang="en-US">
                <a:sym typeface="+mn-ea"/>
              </a:rPr>
              <a:t>          </a:t>
            </a:r>
            <a:r>
              <a:rPr lang="en-US" altLang="en-GB">
                <a:sym typeface="+mn-ea"/>
              </a:rPr>
              <a:t>Modern Web Technologies</a:t>
            </a:r>
            <a:endParaRPr lang="en-US" altLang="en-GB"/>
          </a:p>
          <a:p>
            <a:r>
              <a:rPr lang="en-US" altLang="en-GB">
                <a:sym typeface="+mn-ea"/>
              </a:rPr>
              <a:t>Testing	</a:t>
            </a:r>
            <a:r>
              <a:rPr lang="en-IN" altLang="en-US">
                <a:sym typeface="+mn-ea"/>
              </a:rPr>
              <a:t>                        </a:t>
            </a:r>
            <a:r>
              <a:rPr lang="en-US" altLang="en-GB">
                <a:sym typeface="+mn-ea"/>
              </a:rPr>
              <a:t>API &amp; System Testing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0*137"/>
  <p:tag name="TABLE_ENDDRAG_RECT" val="320*227*400*1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3661</Words>
  <Application>WPS Presentation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Times New Roman</vt:lpstr>
      <vt:lpstr>Cambria</vt:lpstr>
      <vt:lpstr>Arial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Dell</cp:lastModifiedBy>
  <cp:revision>3</cp:revision>
  <dcterms:created xsi:type="dcterms:W3CDTF">2025-07-23T00:59:00Z</dcterms:created>
  <dcterms:modified xsi:type="dcterms:W3CDTF">2026-09-28T05:49:22Z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6714EAEBC254447287011B591BD296E2_11</vt:lpwstr>
  </property>
  <property fmtid="{D5CDD505-2E9C-101B-9397-08002B2CF9AE}" pid="3" name="KSOProductBuildVer">
    <vt:lpwstr>2057-12.2.0.23206</vt:lpwstr>
  </property>
</Properties>
</file>