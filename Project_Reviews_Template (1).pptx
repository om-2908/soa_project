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707" r:id="rId6"/>
    <p:sldId id="257" r:id="rId7"/>
    <p:sldId id="903" r:id="rId8"/>
    <p:sldId id="902" r:id="rId9"/>
    <p:sldId id="921" r:id="rId10"/>
    <p:sldId id="258" r:id="rId11"/>
    <p:sldId id="259" r:id="rId12"/>
    <p:sldId id="260" r:id="rId13"/>
    <p:sldId id="904" r:id="rId14"/>
    <p:sldId id="90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.png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995612" y="33508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898509"/>
          <a:ext cx="3702050" cy="131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/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Team Members: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1.OM PANDEY  2420030791</a:t>
                      </a:r>
                      <a:b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</a:b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2.SRUJAN          2420030082</a:t>
                      </a:r>
                      <a:b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</a:b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3.DHANUSH      2420030788</a:t>
                      </a:r>
                      <a:b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</a:b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4.MUNUDEEP   2420090018</a:t>
                      </a:r>
                      <a:endParaRPr lang="en-IN" sz="1200" b="0" i="0" u="none" strike="noStrike" noProof="0">
                        <a:solidFill>
                          <a:srgbClr val="C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/>
                          <a:ea typeface="Cambria" panose="02040503050406030204"/>
                          <a:cs typeface="Times New Roman" panose="02020603050405020304"/>
                          <a:sym typeface="Cambria" panose="02040503050406030204"/>
                        </a:rPr>
                        <a:t>Dr.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/>
                          <a:ea typeface="Cambria" panose="02040503050406030204"/>
                          <a:cs typeface="Times New Roman" panose="02020603050405020304"/>
                        </a:rPr>
                        <a:t>NAVYATHA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/>
                          <a:ea typeface="Cambria" panose="02040503050406030204"/>
                          <a:cs typeface="Times New Roman" panose="02020603050405020304"/>
                        </a:rPr>
                        <a:t> RANI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/>
                          <a:ea typeface="Cambria" panose="02040503050406030204"/>
                          <a:cs typeface="Times New Roman" panose="02020603050405020304"/>
                          <a:sym typeface="Cambria" panose="02040503050406030204"/>
                        </a:rPr>
                        <a:t>, </a:t>
                      </a:r>
                      <a:endParaRPr lang="en-US" sz="1400" b="1">
                        <a:solidFill>
                          <a:schemeClr val="dk1"/>
                        </a:solidFill>
                        <a:latin typeface="Times New Roman" panose="02020603050405020304"/>
                        <a:ea typeface="Cambria" panose="02040503050406030204"/>
                        <a:cs typeface="Times New Roman" panose="02020603050405020304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  <a:endParaRPr lang="en-US" sz="1400" b="1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  <a:endParaRPr lang="en-IN" b="1" dirty="0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IN" sz="2800">
                <a:solidFill>
                  <a:schemeClr val="bg1"/>
                </a:solidFill>
                <a:ea typeface="+mn-lt"/>
                <a:cs typeface="+mn-lt"/>
              </a:rPr>
              <a:t>ONLINE QUIZ SYSTEM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BATCH - 5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>
              <a:defRPr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  <a:endParaRPr kumimoji="0" lang="en-IN" sz="3600" b="1" i="0" u="none" strike="noStrike" kern="1200" cap="none" spc="0" normalizeH="0" baseline="0" noProof="0" dirty="0">
              <a:ln w="0"/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/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Challenges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Research Objectives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Conclusion &amp; Future Work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Publications Details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pic>
          <p:nvPicPr>
            <p:cNvPr id="7" name="Graphic 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Focus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Introduction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86118" y="1546412"/>
            <a:ext cx="10432676" cy="34150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b="1"/>
              <a:t>PROBLEM STATEMENT</a:t>
            </a:r>
            <a:endParaRPr lang="en-US" b="1"/>
          </a:p>
          <a:p>
            <a:pPr>
              <a:buChar char="•"/>
            </a:pPr>
            <a:r>
              <a:rPr lang="en-US" altLang="en-GB" sz="2200"/>
              <a:t>Traditional quiz systems rely on manual question paper preparation, distribution, evaluation, and result generation, making the overall process time-consuming and prone to errors. Managing users, questions, quizzes, and results through separate manual processes is also difficult and inefficient. Therefore, there is a need for a centralized and automated online platform that can conduct quizzes, automatically evaluate student answers, and generate results quickly. To address these limitations, the proposed Online Quiz System uses a microservices-oriented architecture to improve scalability, maintainability, and reliability.</a:t>
            </a:r>
            <a:endParaRPr lang="en-US" altLang="en-GB" sz="2200"/>
          </a:p>
          <a:p>
            <a:pPr algn="ctr"/>
            <a:endParaRPr lang="en-US" altLang="en-GB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41295" y="1479176"/>
            <a:ext cx="10970558" cy="40309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200" b="1"/>
              <a:t>OBJECTIVES</a:t>
            </a:r>
            <a:endParaRPr lang="en-US" sz="2200" b="1"/>
          </a:p>
          <a:p>
            <a:pPr>
              <a:buChar char="•"/>
            </a:pPr>
            <a:r>
              <a:rPr lang="en-US" altLang="en-GB" sz="2200"/>
              <a:t>To develop a user-friendly web-based Online Quiz System** that enables secure student participation and allows administrators/instructors to manage quizzes, users, questions, and results.</a:t>
            </a:r>
            <a:endParaRPr lang="en-US" altLang="en-GB" sz="2200"/>
          </a:p>
          <a:p>
            <a:pPr>
              <a:buChar char="•"/>
            </a:pPr>
            <a:r>
              <a:rPr lang="en-US" altLang="en-GB" sz="2200"/>
              <a:t>*To provide an effective quiz platform** with multiple-choice questions, correct answers, marks, and time limits.</a:t>
            </a:r>
            <a:endParaRPr lang="en-US" altLang="en-GB" sz="2200"/>
          </a:p>
          <a:p>
            <a:pPr>
              <a:buChar char="•"/>
            </a:pPr>
            <a:r>
              <a:rPr lang="en-US" altLang="en-GB" sz="2200"/>
              <a:t>To automatically evaluate submitted answers** and quickly generate and display quiz scores and results.</a:t>
            </a:r>
            <a:endParaRPr lang="en-US" altLang="en-GB" sz="2200"/>
          </a:p>
          <a:p>
            <a:pPr>
              <a:buChar char="•"/>
            </a:pPr>
            <a:r>
              <a:rPr lang="en-US" altLang="en-GB" sz="2200"/>
              <a:t>To implement a microservices-oriented architecture** to improve the system’s scalability, flexibility, and maintainability.</a:t>
            </a:r>
            <a:endParaRPr lang="en-US" altLang="en-GB" sz="2200"/>
          </a:p>
          <a:p>
            <a:pPr indent="0">
              <a:buNone/>
            </a:pP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>
            <p:custDataLst>
              <p:tags r:id="rId1"/>
            </p:custDataLst>
          </p:nvPr>
        </p:nvGraphicFramePr>
        <p:xfrm>
          <a:off x="274955" y="689610"/>
          <a:ext cx="11642725" cy="56667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25"/>
                <a:gridCol w="2275205"/>
                <a:gridCol w="2475865"/>
                <a:gridCol w="2936875"/>
                <a:gridCol w="2865755"/>
              </a:tblGrid>
              <a:tr h="4737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Limitation/Future work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1883410"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Author 1 et 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Online Quiz / Assessment System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Web-based online assessment with automated evaluation</a:t>
                      </a:r>
                      <a:endParaRPr lang="en-IN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/>
                        <a:ea typeface="+mn-ea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Reduces manual effort and provides faster evaluation</a:t>
                      </a:r>
                      <a:endParaRPr lang="en-IN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/>
                        <a:ea typeface="+mn-ea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Can be improved with scalable architecture</a:t>
                      </a:r>
                      <a:endParaRPr lang="en-US" sz="1400" b="0" i="0" u="none" kern="1200">
                        <a:solidFill>
                          <a:srgbClr val="FF0000"/>
                        </a:solidFill>
                        <a:effectLst/>
                        <a:latin typeface="Times New Roman" panose="02020603050405020304"/>
                        <a:ea typeface="+mn-ea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/>
                </a:tc>
              </a:tr>
              <a:tr h="1654175"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Author 2 et al.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tx1"/>
                          </a:solidFill>
                          <a:effectLst/>
                        </a:rPr>
                        <a:t>Automated Online Examination System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Online examination and automatic result generation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Improves evaluation speed and accuracy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tx1"/>
                          </a:solidFill>
                          <a:effectLst/>
                        </a:rPr>
                        <a:t>Limited advanced management features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  <a:tr h="1655445"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Author 3 et al.</a:t>
                      </a:r>
                      <a:endParaRPr lang="en-IN" sz="1400" b="0" i="0" u="none" strike="noStrike" kern="1200" noProof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lvl="0" algn="l">
                        <a:buNone/>
                      </a:pPr>
                      <a:endParaRPr lang="en-US"/>
                    </a:p>
                    <a:p>
                      <a:pPr marL="0" lvl="0" algn="l">
                        <a:buNone/>
                      </a:pPr>
                      <a:endParaRPr lang="en-US"/>
                    </a:p>
                    <a:p>
                      <a:pPr marL="0" lvl="0" algn="l">
                        <a:buNone/>
                      </a:pPr>
                      <a:endParaRPr lang="en-US"/>
                    </a:p>
                    <a:p>
                      <a:pPr marL="0" lvl="0" algn="l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tx1"/>
                          </a:solidFill>
                          <a:effectLst/>
                        </a:rPr>
                        <a:t>Microservices-Based Web Application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Independent services communicating through REST APIs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Improves scalability and maintainability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tx1"/>
                          </a:solidFill>
                          <a:effectLst/>
                        </a:rPr>
                        <a:t>Requires proper service communication and management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57dfa60a-89f2-47b1-b5e8-b73d126e4a5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1352" y="1770529"/>
          <a:ext cx="11902041" cy="444483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67347"/>
                <a:gridCol w="3967347"/>
                <a:gridCol w="3967347"/>
              </a:tblGrid>
              <a:tr h="497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Existing Systems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Identified Gap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Proposed System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28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quiz preparation and evaluation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Time-consuming process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Automated quiz management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73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result calculation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Possibility of errors and delays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Automatic evaluation and result generation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73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Separate management of users, questions and results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Difficult to manage efficiently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Centralized management system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97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Tightly coupled application structure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Difficult to scale and maintain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Microservices-oriented architecture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73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 flexibility in system expansion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Difficult to add or modify functionalities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Independent services with REST API communication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7382" y="1714500"/>
            <a:ext cx="1150844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b="1"/>
              <a:t>🔹 Innovation</a:t>
            </a:r>
            <a:endParaRPr lang="en-US" b="1"/>
          </a:p>
          <a:p>
            <a:pPr>
              <a:buChar char="•"/>
            </a:pPr>
            <a:r>
              <a:rPr lang="en-US"/>
              <a:t>Automates the complete </a:t>
            </a:r>
            <a:r>
              <a:rPr lang="en-US" b="1"/>
              <a:t>online quiz process</a:t>
            </a:r>
            <a:r>
              <a:rPr lang="en-US"/>
              <a:t> from quiz creation to result generation. </a:t>
            </a:r>
            <a:endParaRPr lang="en-US"/>
          </a:p>
          <a:p>
            <a:pPr>
              <a:buChar char="•"/>
            </a:pPr>
            <a:r>
              <a:rPr lang="en-US"/>
              <a:t>Provides </a:t>
            </a:r>
            <a:r>
              <a:rPr lang="en-US" b="1"/>
              <a:t>automatic evaluation</a:t>
            </a:r>
            <a:r>
              <a:rPr lang="en-US"/>
              <a:t> of submitted answers. </a:t>
            </a:r>
            <a:endParaRPr lang="en-US"/>
          </a:p>
          <a:p>
            <a:pPr>
              <a:buChar char="•"/>
            </a:pPr>
            <a:r>
              <a:rPr lang="en-US"/>
              <a:t>Uses a </a:t>
            </a:r>
            <a:r>
              <a:rPr lang="en-US" b="1"/>
              <a:t>microservices-oriented architecture</a:t>
            </a:r>
            <a:r>
              <a:rPr lang="en-US"/>
              <a:t> to separate major system functionalities. </a:t>
            </a:r>
            <a:endParaRPr lang="en-US"/>
          </a:p>
          <a:p>
            <a:pPr>
              <a:buChar char="•"/>
            </a:pPr>
            <a:r>
              <a:rPr lang="en-US"/>
              <a:t>Enables communication between services through </a:t>
            </a:r>
            <a:r>
              <a:rPr lang="en-US" b="1"/>
              <a:t>REST APIs</a:t>
            </a:r>
            <a:r>
              <a:rPr lang="en-US"/>
              <a:t>. </a:t>
            </a:r>
            <a:endParaRPr lang="en-US"/>
          </a:p>
          <a:p>
            <a:r>
              <a:rPr lang="en-US" b="1"/>
              <a:t>🔹 Creativity</a:t>
            </a:r>
            <a:endParaRPr lang="en-US" b="1"/>
          </a:p>
          <a:p>
            <a:pPr>
              <a:buChar char="•"/>
            </a:pPr>
            <a:r>
              <a:rPr lang="en-US"/>
              <a:t>Provides an </a:t>
            </a:r>
            <a:r>
              <a:rPr lang="en-US" b="1"/>
              <a:t>interactive and user-friendly platform</a:t>
            </a:r>
            <a:r>
              <a:rPr lang="en-US"/>
              <a:t> for students and instructors. </a:t>
            </a:r>
            <a:endParaRPr lang="en-US"/>
          </a:p>
          <a:p>
            <a:pPr>
              <a:buChar char="•"/>
            </a:pPr>
            <a:r>
              <a:rPr lang="en-US"/>
              <a:t>Supports quiz features such as </a:t>
            </a:r>
            <a:r>
              <a:rPr lang="en-US" b="1"/>
              <a:t>multiple-choice questions, marks and time limits</a:t>
            </a:r>
            <a:r>
              <a:rPr lang="en-US"/>
              <a:t>. </a:t>
            </a:r>
            <a:endParaRPr lang="en-US"/>
          </a:p>
          <a:p>
            <a:pPr>
              <a:buChar char="•"/>
            </a:pPr>
            <a:r>
              <a:rPr lang="en-US"/>
              <a:t>Allows students to participate in quizzes conveniently through the web. </a:t>
            </a:r>
            <a:endParaRPr lang="en-US"/>
          </a:p>
          <a:p>
            <a:r>
              <a:rPr lang="en-US" b="1"/>
              <a:t>🔹 Novelty</a:t>
            </a:r>
            <a:endParaRPr lang="en-US" b="1"/>
          </a:p>
          <a:p>
            <a:pPr>
              <a:buChar char="•"/>
            </a:pPr>
            <a:r>
              <a:rPr lang="en-US"/>
              <a:t>Separates </a:t>
            </a:r>
            <a:r>
              <a:rPr lang="en-US" b="1"/>
              <a:t>authentication, quiz, question, evaluation and result management</a:t>
            </a:r>
            <a:r>
              <a:rPr lang="en-US"/>
              <a:t> into independent services. </a:t>
            </a:r>
            <a:endParaRPr lang="en-US"/>
          </a:p>
          <a:p>
            <a:pPr>
              <a:buChar char="•"/>
            </a:pPr>
            <a:r>
              <a:rPr lang="en-US"/>
              <a:t>Improves </a:t>
            </a:r>
            <a:r>
              <a:rPr lang="en-US" b="1"/>
              <a:t>scalability, maintainability, flexibility and reliability</a:t>
            </a:r>
            <a:r>
              <a:rPr lang="en-US"/>
              <a:t> compared with a tightly integrated system. </a:t>
            </a:r>
            <a:endParaRPr lang="en-US"/>
          </a:p>
          <a:p>
            <a:pPr>
              <a:buChar char="•"/>
            </a:pPr>
            <a:r>
              <a:rPr lang="en-US"/>
              <a:t>Provides a centralized database for </a:t>
            </a:r>
            <a:r>
              <a:rPr lang="en-US" b="1"/>
              <a:t>users, quizzes, questions, answers and results</a:t>
            </a:r>
            <a:r>
              <a:rPr lang="en-US"/>
              <a:t>. 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39471" y="1714500"/>
            <a:ext cx="811305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b="1"/>
              <a:t>1. Technical Feasibility</a:t>
            </a:r>
            <a:endParaRPr lang="en-US" b="1"/>
          </a:p>
          <a:p>
            <a:pPr>
              <a:buChar char="•"/>
            </a:pPr>
            <a:r>
              <a:rPr lang="en-US"/>
              <a:t>Web-based application can be developed using modern web technologies. </a:t>
            </a:r>
            <a:endParaRPr lang="en-US"/>
          </a:p>
          <a:p>
            <a:pPr>
              <a:buChar char="•"/>
            </a:pPr>
            <a:r>
              <a:rPr lang="en-US"/>
              <a:t>Microservices architecture separates major functionalities. </a:t>
            </a:r>
            <a:endParaRPr lang="en-US"/>
          </a:p>
          <a:p>
            <a:pPr>
              <a:buChar char="•"/>
            </a:pPr>
            <a:r>
              <a:rPr lang="en-US"/>
              <a:t>REST APIs enable communication between services. </a:t>
            </a:r>
            <a:endParaRPr lang="en-US"/>
          </a:p>
          <a:p>
            <a:pPr>
              <a:buChar char="•"/>
            </a:pPr>
            <a:r>
              <a:rPr lang="en-US"/>
              <a:t>Centralized database stores users, quizzes, questions, answers and results. </a:t>
            </a:r>
            <a:endParaRPr lang="en-US"/>
          </a:p>
          <a:p>
            <a:pPr>
              <a:buChar char="•"/>
            </a:pPr>
            <a:r>
              <a:rPr lang="en-US"/>
              <a:t>The proposed architecture supports scalability and maintainability. </a:t>
            </a:r>
            <a:endParaRPr lang="en-US"/>
          </a:p>
          <a:p>
            <a:r>
              <a:rPr lang="en-US" b="1"/>
              <a:t>2. Operational Feasibility</a:t>
            </a:r>
            <a:endParaRPr lang="en-US" b="1"/>
          </a:p>
          <a:p>
            <a:pPr>
              <a:buChar char="•"/>
            </a:pPr>
            <a:r>
              <a:rPr lang="en-US"/>
              <a:t>Students can access and attempt quizzes through the web. </a:t>
            </a:r>
            <a:endParaRPr lang="en-US"/>
          </a:p>
          <a:p>
            <a:pPr>
              <a:buChar char="•"/>
            </a:pPr>
            <a:r>
              <a:rPr lang="en-US"/>
              <a:t>Administrators and instructors can create and manage quizzes. </a:t>
            </a:r>
            <a:endParaRPr lang="en-US"/>
          </a:p>
          <a:p>
            <a:pPr>
              <a:buChar char="•"/>
            </a:pPr>
            <a:r>
              <a:rPr lang="en-US"/>
              <a:t>Automatic evaluation provides faster results. </a:t>
            </a:r>
            <a:endParaRPr lang="en-US"/>
          </a:p>
          <a:p>
            <a:pPr>
              <a:buChar char="•"/>
            </a:pPr>
            <a:r>
              <a:rPr lang="en-US"/>
              <a:t>The system can be accessed from any location with internet connectivity. 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3. Project Plan</a:t>
            </a:r>
            <a:endParaRPr lang="en-US" sz="340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413565" y="1435652"/>
          <a:ext cx="9162438" cy="502002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81219"/>
                <a:gridCol w="4581219"/>
              </a:tblGrid>
              <a:tr h="55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Phase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Major Activity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Phase 1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 Analysis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Phase 2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&amp; Architecture Design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Phase 3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Database Design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Phase 4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Microservices Development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Phase 5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Frontend Development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Phase 6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Integration &amp; API Testing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Phase 7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Testing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Phase 8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Deployment &amp; Documentation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460" y="0"/>
            <a:ext cx="11550650" cy="784225"/>
          </a:xfrm>
          <a:gradFill>
            <a:gsLst>
              <a:gs pos="32000">
                <a:schemeClr val="accent1">
                  <a:lumMod val="88000"/>
                  <a:lumOff val="12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rect">
              <a:fillToRect l="100000" b="100000"/>
            </a:path>
            <a:tileRect t="-100000" r="-100000"/>
          </a:gradFill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Timeline Chart</a:t>
            </a:r>
            <a:r>
              <a:rPr lang="en-IN" altLang="en-US">
                <a:ea typeface="+mj-lt"/>
                <a:cs typeface="+mj-lt"/>
              </a:rPr>
              <a:t>:-</a:t>
            </a:r>
            <a:endParaRPr lang="en-IN" altLang="en-US" dirty="0">
              <a:ea typeface="+mj-lt"/>
              <a:cs typeface="+mj-lt"/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484394" y="784086"/>
          <a:ext cx="11551225" cy="598135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50175"/>
                <a:gridCol w="1650175"/>
                <a:gridCol w="1650175"/>
                <a:gridCol w="1650175"/>
                <a:gridCol w="1650175"/>
                <a:gridCol w="1650175"/>
                <a:gridCol w="1650175"/>
              </a:tblGrid>
              <a:tr h="546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Project Phase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W1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W2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W3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W4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W5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W6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</a:tr>
              <a:tr h="1004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1. Requirements &amp; Analysis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●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●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</a:tr>
              <a:tr h="775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2. System &amp; Database Design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●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●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</a:tr>
              <a:tr h="775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3. Backend / Microservices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●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●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</a:tr>
              <a:tr h="775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4. Frontend Development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●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●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</a:tr>
              <a:tr h="775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5. Integration &amp; Testing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●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●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</a:tr>
              <a:tr h="1004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6. Documentation &amp; Deployment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●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32000">
                          <a:schemeClr val="accent1">
                            <a:lumMod val="88000"/>
                            <a:lumOff val="12000"/>
                            <a:alpha val="5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b="100000"/>
                      </a:path>
                      <a:tileRect t="-100000" r="-10000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16*446"/>
  <p:tag name="TABLE_ENDDRAG_RECT" val="21*54*916*44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4896</Words>
  <Application>WPS Presentation</Application>
  <PresentationFormat>Widescreen</PresentationFormat>
  <Paragraphs>287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Times New Roman</vt:lpstr>
      <vt:lpstr>Cambria</vt:lpstr>
      <vt:lpstr>Arial</vt:lpstr>
      <vt:lpstr>Calibri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Project Plan</vt:lpstr>
      <vt:lpstr>Timeline Chart:-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Dell</cp:lastModifiedBy>
  <cp:revision>129</cp:revision>
  <dcterms:created xsi:type="dcterms:W3CDTF">2026-08-08T06:33:00Z</dcterms:created>
  <dcterms:modified xsi:type="dcterms:W3CDTF">2026-09-28T05:51:11Z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AB982CA585264BAEBE02B83E863B779A_12</vt:lpwstr>
  </property>
  <property fmtid="{D5CDD505-2E9C-101B-9397-08002B2CF9AE}" pid="3" name="KSOProductBuildVer">
    <vt:lpwstr>2057-12.2.0.23206</vt:lpwstr>
  </property>
</Properties>
</file>